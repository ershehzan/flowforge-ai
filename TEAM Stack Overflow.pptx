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8.svg" ContentType="image/svg+xml"/>
  <Override PartName="/ppt/media/image21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64" r:id="rId3"/>
    <p:sldId id="257" r:id="rId4"/>
    <p:sldId id="258" r:id="rId6"/>
    <p:sldId id="259" r:id="rId7"/>
    <p:sldId id="260" r:id="rId8"/>
    <p:sldId id="261" r:id="rId9"/>
    <p:sldId id="262" r:id="rId10"/>
    <p:sldId id="263" r:id="rId11"/>
  </p:sldIdLst>
  <p:sldSz cx="12191365" cy="6858000"/>
  <p:notesSz cx="6858000" cy="12191365"/>
  <p:embeddedFontLst>
    <p:embeddedFont>
      <p:font typeface="Roboto Slab" pitchFamily="34" charset="0"/>
      <p:regular r:id="rId15"/>
    </p:embeddedFont>
    <p:embeddedFont>
      <p:font typeface="Roboto Slab" pitchFamily="34" charset="-122"/>
      <p:regular r:id="rId16"/>
    </p:embeddedFont>
    <p:embeddedFont>
      <p:font typeface="Roboto Slab" pitchFamily="34" charset="-120"/>
      <p:regular r:id="rId17"/>
    </p:embeddedFont>
    <p:embeddedFont>
      <p:font typeface="Roboto" panose="02000000000000000000" pitchFamily="34" charset="0"/>
      <p:regular r:id="rId18"/>
    </p:embeddedFont>
    <p:embeddedFont>
      <p:font typeface="Roboto" panose="02000000000000000000" pitchFamily="34" charset="-122"/>
      <p:regular r:id="rId19"/>
    </p:embeddedFont>
    <p:embeddedFont>
      <p:font typeface="Roboto" panose="02000000000000000000" pitchFamily="34" charset="-120"/>
      <p:regular r:id="rId20"/>
    </p:embeddedFont>
    <p:embeddedFont>
      <p:font typeface="Roboto Bold" panose="02000000000000000000" pitchFamily="34" charset="0"/>
      <p:bold r:id="rId21"/>
    </p:embeddedFont>
    <p:embeddedFont>
      <p:font typeface="Roboto Bold" panose="02000000000000000000" pitchFamily="34" charset="-122"/>
      <p:bold r:id="rId22"/>
    </p:embeddedFont>
    <p:embeddedFont>
      <p:font typeface="Roboto Bold" panose="02000000000000000000" pitchFamily="34" charset="-120"/>
      <p:bold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  <p:embeddedFont>
      <p:font typeface="Cambria" panose="02040503050406030204" charset="0"/>
      <p:regular r:id="rId28"/>
      <p:bold r:id="rId29"/>
      <p:italic r:id="rId30"/>
      <p:boldItalic r:id="rId31"/>
    </p:embeddedFont>
    <p:embeddedFont>
      <p:font typeface="Microsoft Sans Serif" panose="020B0604020202020204" charset="0"/>
      <p:regular r:id="rId3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1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2" Type="http://schemas.openxmlformats.org/officeDocument/2006/relationships/font" Target="fonts/font18.fntdata"/><Relationship Id="rId31" Type="http://schemas.openxmlformats.org/officeDocument/2006/relationships/font" Target="fonts/font17.fntdata"/><Relationship Id="rId30" Type="http://schemas.openxmlformats.org/officeDocument/2006/relationships/font" Target="fonts/font16.fntdata"/><Relationship Id="rId3" Type="http://schemas.openxmlformats.org/officeDocument/2006/relationships/slide" Target="slides/slide1.xml"/><Relationship Id="rId29" Type="http://schemas.openxmlformats.org/officeDocument/2006/relationships/font" Target="fonts/font15.fntdata"/><Relationship Id="rId28" Type="http://schemas.openxmlformats.org/officeDocument/2006/relationships/font" Target="fonts/font14.fntdata"/><Relationship Id="rId27" Type="http://schemas.openxmlformats.org/officeDocument/2006/relationships/font" Target="fonts/font13.fntdata"/><Relationship Id="rId26" Type="http://schemas.openxmlformats.org/officeDocument/2006/relationships/font" Target="fonts/font12.fntdata"/><Relationship Id="rId25" Type="http://schemas.openxmlformats.org/officeDocument/2006/relationships/font" Target="fonts/font11.fntdata"/><Relationship Id="rId24" Type="http://schemas.openxmlformats.org/officeDocument/2006/relationships/font" Target="fonts/font10.fntdata"/><Relationship Id="rId23" Type="http://schemas.openxmlformats.org/officeDocument/2006/relationships/font" Target="fonts/font9.fntdata"/><Relationship Id="rId22" Type="http://schemas.openxmlformats.org/officeDocument/2006/relationships/font" Target="fonts/font8.fntdata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8"/>
          </a:solidFill>
        </p:spPr>
      </p:sp>
      <p:sp>
        <p:nvSpPr>
          <p:cNvPr id="3" name="Shape 1"/>
          <p:cNvSpPr/>
          <p:nvPr/>
        </p:nvSpPr>
        <p:spPr>
          <a:xfrm>
            <a:off x="361246" y="203200"/>
            <a:ext cx="11469202" cy="6451600"/>
          </a:xfrm>
          <a:prstGeom prst="rect">
            <a:avLst/>
          </a:prstGeom>
          <a:solidFill>
            <a:srgbClr val="FBFCFE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8"/>
          </a:solidFill>
        </p:spPr>
      </p:sp>
      <p:sp>
        <p:nvSpPr>
          <p:cNvPr id="3" name="Shape 1"/>
          <p:cNvSpPr/>
          <p:nvPr/>
        </p:nvSpPr>
        <p:spPr>
          <a:xfrm>
            <a:off x="361246" y="203200"/>
            <a:ext cx="11469202" cy="6451600"/>
          </a:xfrm>
          <a:prstGeom prst="rect">
            <a:avLst/>
          </a:prstGeom>
          <a:solidFill>
            <a:srgbClr val="FBFCFE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8"/>
          </a:solidFill>
        </p:spPr>
      </p:sp>
      <p:sp>
        <p:nvSpPr>
          <p:cNvPr id="3" name="Shape 1"/>
          <p:cNvSpPr/>
          <p:nvPr/>
        </p:nvSpPr>
        <p:spPr>
          <a:xfrm>
            <a:off x="361246" y="203200"/>
            <a:ext cx="11469202" cy="6451600"/>
          </a:xfrm>
          <a:prstGeom prst="rect">
            <a:avLst/>
          </a:prstGeom>
          <a:solidFill>
            <a:srgbClr val="FBFCFE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8"/>
          </a:solidFill>
        </p:spPr>
      </p:sp>
      <p:sp>
        <p:nvSpPr>
          <p:cNvPr id="3" name="Shape 1"/>
          <p:cNvSpPr/>
          <p:nvPr/>
        </p:nvSpPr>
        <p:spPr>
          <a:xfrm>
            <a:off x="361246" y="203200"/>
            <a:ext cx="11469202" cy="6451600"/>
          </a:xfrm>
          <a:prstGeom prst="rect">
            <a:avLst/>
          </a:prstGeom>
          <a:solidFill>
            <a:srgbClr val="FBFCFE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1F8"/>
          </a:solidFill>
        </p:spPr>
      </p:sp>
      <p:sp>
        <p:nvSpPr>
          <p:cNvPr id="3" name="Shape 1"/>
          <p:cNvSpPr/>
          <p:nvPr/>
        </p:nvSpPr>
        <p:spPr>
          <a:xfrm>
            <a:off x="361246" y="203200"/>
            <a:ext cx="11469202" cy="6451600"/>
          </a:xfrm>
          <a:prstGeom prst="rect">
            <a:avLst/>
          </a:prstGeom>
          <a:solidFill>
            <a:srgbClr val="FBFCFE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3.xml"/><Relationship Id="rId14" Type="http://schemas.openxmlformats.org/officeDocument/2006/relationships/image" Target="../media/image16.png"/><Relationship Id="rId13" Type="http://schemas.openxmlformats.org/officeDocument/2006/relationships/image" Target="../media/image15.png"/><Relationship Id="rId12" Type="http://schemas.openxmlformats.org/officeDocument/2006/relationships/image" Target="../media/image14.png"/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svg"/><Relationship Id="rId1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4.svg"/><Relationship Id="rId1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image" Target="../media/image36.svg"/><Relationship Id="rId7" Type="http://schemas.openxmlformats.org/officeDocument/2006/relationships/image" Target="../media/image35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Relationship Id="rId3" Type="http://schemas.openxmlformats.org/officeDocument/2006/relationships/image" Target="../media/image31.png"/><Relationship Id="rId20" Type="http://schemas.openxmlformats.org/officeDocument/2006/relationships/notesSlide" Target="../notesSlides/notesSlide7.xml"/><Relationship Id="rId2" Type="http://schemas.openxmlformats.org/officeDocument/2006/relationships/image" Target="../media/image30.svg"/><Relationship Id="rId19" Type="http://schemas.openxmlformats.org/officeDocument/2006/relationships/slideLayout" Target="../slideLayouts/slideLayout6.xml"/><Relationship Id="rId18" Type="http://schemas.openxmlformats.org/officeDocument/2006/relationships/image" Target="../media/image46.svg"/><Relationship Id="rId17" Type="http://schemas.openxmlformats.org/officeDocument/2006/relationships/image" Target="../media/image45.png"/><Relationship Id="rId16" Type="http://schemas.openxmlformats.org/officeDocument/2006/relationships/image" Target="../media/image44.svg"/><Relationship Id="rId15" Type="http://schemas.openxmlformats.org/officeDocument/2006/relationships/image" Target="../media/image43.png"/><Relationship Id="rId14" Type="http://schemas.openxmlformats.org/officeDocument/2006/relationships/image" Target="../media/image42.svg"/><Relationship Id="rId13" Type="http://schemas.openxmlformats.org/officeDocument/2006/relationships/image" Target="../media/image41.png"/><Relationship Id="rId12" Type="http://schemas.openxmlformats.org/officeDocument/2006/relationships/image" Target="../media/image40.svg"/><Relationship Id="rId11" Type="http://schemas.openxmlformats.org/officeDocument/2006/relationships/image" Target="../media/image39.png"/><Relationship Id="rId10" Type="http://schemas.openxmlformats.org/officeDocument/2006/relationships/image" Target="../media/image38.svg"/><Relationship Id="rId1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ChatGPT Image Sep 14, 2026, 11_47_21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0" y="0"/>
            <a:ext cx="12185015" cy="685800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83870" y="4167505"/>
            <a:ext cx="3071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TEAM- Stack_OverFlow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861814"/>
            <a:ext cx="10224633" cy="5000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FACTORIES DON'T FOLLOW THE PLAN.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983531" y="1468299"/>
            <a:ext cx="10834218" cy="2431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When the schedule breaks, operations have to adapt in real time.</a:t>
            </a:r>
            <a:endParaRPr lang="en-US" sz="16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000041" y="2166064"/>
            <a:ext cx="2794129" cy="2500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Disruptions</a:t>
            </a:r>
            <a:endParaRPr lang="en-US" sz="2000" dirty="0">
              <a:solidFill>
                <a:srgbClr val="3257B8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31" y="2611140"/>
            <a:ext cx="400040" cy="4000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63549" y="2611140"/>
            <a:ext cx="2214110" cy="2500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Microsoft Sans Serif" panose="020B0604020202020204" charset="0"/>
                <a:ea typeface="Roboto Slab" pitchFamily="34" charset="-122"/>
                <a:cs typeface="Microsoft Sans Serif" panose="020B0604020202020204" charset="0"/>
              </a:rPr>
              <a:t>Machine failure</a:t>
            </a:r>
            <a:endParaRPr lang="en-US" sz="1550" dirty="0">
              <a:solidFill>
                <a:srgbClr val="15213F"/>
              </a:solidFill>
              <a:latin typeface="Microsoft Sans Serif" panose="020B0604020202020204" charset="0"/>
              <a:ea typeface="Roboto Slab" pitchFamily="34" charset="-122"/>
              <a:cs typeface="Microsoft Sans Serif" panose="020B0604020202020204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3531" y="3299222"/>
            <a:ext cx="400040" cy="400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63549" y="3299222"/>
            <a:ext cx="2214110" cy="2500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Microsoft Sans Serif" panose="020B0604020202020204" charset="0"/>
                <a:ea typeface="Roboto Slab" pitchFamily="34" charset="-122"/>
                <a:cs typeface="Microsoft Sans Serif" panose="020B0604020202020204" charset="0"/>
              </a:rPr>
              <a:t>Rush order</a:t>
            </a:r>
            <a:endParaRPr lang="en-US" sz="1550" dirty="0">
              <a:solidFill>
                <a:srgbClr val="15213F"/>
              </a:solidFill>
              <a:latin typeface="Microsoft Sans Serif" panose="020B0604020202020204" charset="0"/>
              <a:ea typeface="Roboto Slab" pitchFamily="34" charset="-122"/>
              <a:cs typeface="Microsoft Sans Serif" panose="020B060402020202020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3531" y="3987304"/>
            <a:ext cx="400040" cy="4000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63549" y="3987304"/>
            <a:ext cx="2214110" cy="2500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Microsoft Sans Serif" panose="020B0604020202020204" charset="0"/>
                <a:ea typeface="Roboto Slab" pitchFamily="34" charset="-122"/>
                <a:cs typeface="Microsoft Sans Serif" panose="020B0604020202020204" charset="0"/>
              </a:rPr>
              <a:t>Deadline shift</a:t>
            </a:r>
            <a:endParaRPr lang="en-US" sz="1550" dirty="0">
              <a:solidFill>
                <a:srgbClr val="15213F"/>
              </a:solidFill>
              <a:latin typeface="Microsoft Sans Serif" panose="020B0604020202020204" charset="0"/>
              <a:ea typeface="Roboto Slab" pitchFamily="34" charset="-122"/>
              <a:cs typeface="Microsoft Sans Serif" panose="020B0604020202020204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3531" y="4675386"/>
            <a:ext cx="400040" cy="4000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563549" y="4675386"/>
            <a:ext cx="2214110" cy="2500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Microsoft Sans Serif" panose="020B0604020202020204" charset="0"/>
                <a:ea typeface="Roboto Slab" pitchFamily="34" charset="-122"/>
                <a:cs typeface="Microsoft Sans Serif" panose="020B0604020202020204" charset="0"/>
              </a:rPr>
              <a:t>Cancellation</a:t>
            </a:r>
            <a:endParaRPr lang="en-US" sz="1550" dirty="0">
              <a:solidFill>
                <a:srgbClr val="15213F"/>
              </a:solidFill>
              <a:latin typeface="Microsoft Sans Serif" panose="020B0604020202020204" charset="0"/>
              <a:ea typeface="Roboto Slab" pitchFamily="34" charset="-122"/>
              <a:cs typeface="Microsoft Sans Serif" panose="020B0604020202020204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4190836" y="2166064"/>
            <a:ext cx="7040089" cy="2500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Consequences</a:t>
            </a:r>
            <a:endParaRPr lang="en-US" sz="2000" dirty="0">
              <a:solidFill>
                <a:srgbClr val="3257B8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74326" y="2611140"/>
            <a:ext cx="2346663" cy="64006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334263" y="3395166"/>
            <a:ext cx="2026790" cy="2500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Microsoft Sans Serif" panose="020B0604020202020204" charset="0"/>
                <a:ea typeface="Roboto Slab" pitchFamily="34" charset="-122"/>
                <a:cs typeface="Microsoft Sans Serif" panose="020B0604020202020204" charset="0"/>
              </a:rPr>
              <a:t>Manual rescheduling</a:t>
            </a:r>
            <a:endParaRPr lang="en-US" sz="1550" dirty="0">
              <a:solidFill>
                <a:srgbClr val="15213F"/>
              </a:solidFill>
              <a:latin typeface="Microsoft Sans Serif" panose="020B0604020202020204" charset="0"/>
              <a:ea typeface="Roboto Slab" pitchFamily="34" charset="-122"/>
              <a:cs typeface="Microsoft Sans Serif" panose="020B0604020202020204" charset="0"/>
            </a:endParaRPr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0989" y="2611140"/>
            <a:ext cx="2346663" cy="64006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6846026" y="3395166"/>
            <a:ext cx="2026790" cy="2500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Microsoft Sans Serif" panose="020B0604020202020204" charset="0"/>
                <a:ea typeface="Roboto Slab" pitchFamily="34" charset="-122"/>
                <a:cs typeface="Microsoft Sans Serif" panose="020B0604020202020204" charset="0"/>
              </a:rPr>
              <a:t>Idle capacity</a:t>
            </a:r>
            <a:endParaRPr lang="en-US" sz="1550" dirty="0">
              <a:solidFill>
                <a:srgbClr val="15213F"/>
              </a:solidFill>
              <a:latin typeface="Microsoft Sans Serif" panose="020B0604020202020204" charset="0"/>
              <a:ea typeface="Roboto Slab" pitchFamily="34" charset="-122"/>
              <a:cs typeface="Microsoft Sans Serif" panose="020B0604020202020204" charset="0"/>
            </a:endParaRPr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67652" y="2611140"/>
            <a:ext cx="2346762" cy="64006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9027589" y="3395166"/>
            <a:ext cx="2026889" cy="2500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Microsoft Sans Serif" panose="020B0604020202020204" charset="0"/>
                <a:ea typeface="Roboto Slab" pitchFamily="34" charset="-122"/>
                <a:cs typeface="Microsoft Sans Serif" panose="020B0604020202020204" charset="0"/>
              </a:rPr>
              <a:t>Cascading delays</a:t>
            </a:r>
            <a:endParaRPr lang="en-US" sz="1550" dirty="0">
              <a:solidFill>
                <a:srgbClr val="15213F"/>
              </a:solidFill>
              <a:latin typeface="Microsoft Sans Serif" panose="020B0604020202020204" charset="0"/>
              <a:ea typeface="Roboto Slab" pitchFamily="34" charset="-122"/>
              <a:cs typeface="Microsoft Sans Serif" panose="020B0604020202020204" charset="0"/>
            </a:endParaRPr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74326" y="3805138"/>
            <a:ext cx="2346663" cy="64006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4334263" y="4589165"/>
            <a:ext cx="2026790" cy="2500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Microsoft Sans Serif" panose="020B0604020202020204" charset="0"/>
                <a:ea typeface="Roboto Slab" pitchFamily="34" charset="-122"/>
                <a:cs typeface="Microsoft Sans Serif" panose="020B0604020202020204" charset="0"/>
              </a:rPr>
              <a:t>Missed deadlines</a:t>
            </a:r>
            <a:endParaRPr lang="en-US" sz="1550" dirty="0">
              <a:solidFill>
                <a:srgbClr val="15213F"/>
              </a:solidFill>
              <a:latin typeface="Microsoft Sans Serif" panose="020B0604020202020204" charset="0"/>
              <a:ea typeface="Roboto Slab" pitchFamily="34" charset="-122"/>
              <a:cs typeface="Microsoft Sans Serif" panose="020B0604020202020204" charset="0"/>
            </a:endParaRPr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20989" y="3805138"/>
            <a:ext cx="2346663" cy="64006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680926" y="4589165"/>
            <a:ext cx="2026790" cy="2500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Microsoft Sans Serif" panose="020B0604020202020204" charset="0"/>
                <a:ea typeface="Roboto Slab" pitchFamily="34" charset="-122"/>
                <a:cs typeface="Microsoft Sans Serif" panose="020B0604020202020204" charset="0"/>
              </a:rPr>
              <a:t>Energy inefficiency</a:t>
            </a:r>
            <a:endParaRPr lang="en-US" sz="1550" dirty="0">
              <a:solidFill>
                <a:srgbClr val="15213F"/>
              </a:solidFill>
              <a:latin typeface="Microsoft Sans Serif" panose="020B0604020202020204" charset="0"/>
              <a:ea typeface="Roboto Slab" pitchFamily="34" charset="-122"/>
              <a:cs typeface="Microsoft Sans Serif" panose="020B0604020202020204" charset="0"/>
            </a:endParaRPr>
          </a:p>
        </p:txBody>
      </p:sp>
      <p:sp>
        <p:nvSpPr>
          <p:cNvPr id="24" name="Shape 13"/>
          <p:cNvSpPr/>
          <p:nvPr/>
        </p:nvSpPr>
        <p:spPr>
          <a:xfrm>
            <a:off x="983531" y="5399484"/>
            <a:ext cx="10224633" cy="596702"/>
          </a:xfrm>
          <a:prstGeom prst="roundRect">
            <a:avLst>
              <a:gd name="adj" fmla="val 4023"/>
            </a:avLst>
          </a:prstGeom>
          <a:solidFill>
            <a:srgbClr val="FFB3B4"/>
          </a:solidFill>
        </p:spPr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43467" y="5608538"/>
            <a:ext cx="200020" cy="159941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1470404" y="5533906"/>
            <a:ext cx="10154388" cy="2431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Roboto Bold" panose="02000000000000000000" pitchFamily="34" charset="-122"/>
                <a:cs typeface="Arial" panose="020B0604020202020204" pitchFamily="34" charset="0"/>
              </a:rPr>
              <a:t>The problem isn't creating a schedule. It's keeping the factory running when the schedule breaks.</a:t>
            </a:r>
            <a:endParaRPr lang="en-US" sz="1600" dirty="0">
              <a:solidFill>
                <a:srgbClr val="000000"/>
              </a:solidFill>
              <a:latin typeface="Arial" panose="020B0604020202020204" pitchFamily="34" charset="0"/>
              <a:ea typeface="Roboto Bold" panose="020000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1054715" y="6558915"/>
            <a:ext cx="1113790" cy="29845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Text Box 27"/>
          <p:cNvSpPr txBox="1"/>
          <p:nvPr/>
        </p:nvSpPr>
        <p:spPr>
          <a:xfrm>
            <a:off x="0" y="6517640"/>
            <a:ext cx="12230735" cy="356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TEAM- Stack_OverFlow</a:t>
            </a:r>
            <a:endParaRPr 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947142"/>
            <a:ext cx="10224633" cy="5557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SO WHY SHOULD THE SCHEDULE?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983531" y="1676856"/>
            <a:ext cx="10224633" cy="5689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FLOWFORGE AI</a:t>
            </a:r>
            <a:r>
              <a:rPr lang="en-US" sz="16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is an adaptive production-resilience layer that detects operational changes, re-optimizes active production, reroutes affected work and measures recovery.</a:t>
            </a:r>
            <a:endParaRPr lang="en-US" sz="16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31" y="2627412"/>
            <a:ext cx="1902670" cy="32834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11649" y="2760762"/>
            <a:ext cx="213315" cy="2667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b="1" dirty="0">
              <a:solidFill>
                <a:srgbClr val="FFFFF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86726" y="3338612"/>
            <a:ext cx="1496281" cy="5556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Disruption Detection</a:t>
            </a:r>
            <a:endParaRPr lang="en-US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86726" y="4000897"/>
            <a:ext cx="1496281" cy="17067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Microsoft Sans Serif" panose="020B0604020202020204" charset="0"/>
                <a:ea typeface="Roboto" panose="02000000000000000000" pitchFamily="34" charset="-122"/>
                <a:cs typeface="Microsoft Sans Serif" panose="020B0604020202020204" charset="0"/>
              </a:rPr>
              <a:t>Identifies machine failures, rush orders, deadline shifts, and cancellations in real time.</a:t>
            </a:r>
            <a:endParaRPr lang="en-US" sz="1400" dirty="0">
              <a:solidFill>
                <a:srgbClr val="15213F"/>
              </a:solidFill>
              <a:latin typeface="Microsoft Sans Serif" panose="020B0604020202020204" charset="0"/>
              <a:ea typeface="Roboto" panose="02000000000000000000" pitchFamily="34" charset="-122"/>
              <a:cs typeface="Microsoft Sans Serif" panose="020B0604020202020204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63997" y="2627412"/>
            <a:ext cx="1902670" cy="328344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2115" y="2760762"/>
            <a:ext cx="213315" cy="2667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b="1" dirty="0">
              <a:solidFill>
                <a:srgbClr val="FFFFF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267192" y="3338612"/>
            <a:ext cx="1496281" cy="5556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Adaptive Rescheduling</a:t>
            </a:r>
            <a:endParaRPr lang="en-US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267192" y="4000897"/>
            <a:ext cx="1496281" cy="142230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Microsoft Sans Serif" panose="020B0604020202020204" charset="0"/>
                <a:ea typeface="Roboto" panose="02000000000000000000" pitchFamily="34" charset="-122"/>
                <a:cs typeface="Microsoft Sans Serif" panose="020B0604020202020204" charset="0"/>
              </a:rPr>
              <a:t>Re-optimizes the active schedule the moment conditions change.</a:t>
            </a:r>
            <a:endParaRPr lang="en-US" sz="1400" dirty="0">
              <a:solidFill>
                <a:srgbClr val="15213F"/>
              </a:solidFill>
              <a:latin typeface="Microsoft Sans Serif" panose="020B0604020202020204" charset="0"/>
              <a:ea typeface="Roboto" panose="02000000000000000000" pitchFamily="34" charset="-122"/>
              <a:cs typeface="Microsoft Sans Serif" panose="020B0604020202020204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44463" y="2627412"/>
            <a:ext cx="1902670" cy="328344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72581" y="2760762"/>
            <a:ext cx="213315" cy="2667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b="1" dirty="0">
              <a:solidFill>
                <a:srgbClr val="FFFFF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5347658" y="3338612"/>
            <a:ext cx="1496281" cy="83343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Precedence-Aware Recovery</a:t>
            </a:r>
            <a:endParaRPr lang="en-US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5347658" y="4278709"/>
            <a:ext cx="1496281" cy="142230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Microsoft Sans Serif" panose="020B0604020202020204" charset="0"/>
                <a:ea typeface="Roboto" panose="02000000000000000000" pitchFamily="34" charset="-122"/>
                <a:cs typeface="Microsoft Sans Serif" panose="020B0604020202020204" charset="0"/>
              </a:rPr>
              <a:t>Reroutes work while respecting all operation ordering constraints.</a:t>
            </a:r>
            <a:endParaRPr lang="en-US" sz="1400" dirty="0">
              <a:solidFill>
                <a:srgbClr val="15213F"/>
              </a:solidFill>
              <a:latin typeface="Microsoft Sans Serif" panose="020B0604020202020204" charset="0"/>
              <a:ea typeface="Roboto" panose="02000000000000000000" pitchFamily="34" charset="-122"/>
              <a:cs typeface="Microsoft Sans Serif" panose="020B0604020202020204" charset="0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24929" y="2627412"/>
            <a:ext cx="1902670" cy="328344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53047" y="2760762"/>
            <a:ext cx="213315" cy="2667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b="1" dirty="0">
              <a:solidFill>
                <a:srgbClr val="FFFFF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7428124" y="3338612"/>
            <a:ext cx="1496281" cy="5556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Resilience Measurement</a:t>
            </a:r>
            <a:endParaRPr lang="en-US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7428124" y="4000897"/>
            <a:ext cx="1496281" cy="11378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Microsoft Sans Serif" panose="020B0604020202020204" charset="0"/>
                <a:ea typeface="Roboto" panose="02000000000000000000" pitchFamily="34" charset="-122"/>
                <a:cs typeface="Microsoft Sans Serif" panose="020B0604020202020204" charset="0"/>
              </a:rPr>
              <a:t>Scores operational health before, during, and after every disruption.</a:t>
            </a:r>
            <a:endParaRPr lang="en-US" sz="1400" dirty="0">
              <a:solidFill>
                <a:srgbClr val="15213F"/>
              </a:solidFill>
              <a:latin typeface="Microsoft Sans Serif" panose="020B0604020202020204" charset="0"/>
              <a:ea typeface="Roboto" panose="02000000000000000000" pitchFamily="34" charset="-122"/>
              <a:cs typeface="Microsoft Sans Serif" panose="020B0604020202020204" charset="0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05395" y="2627412"/>
            <a:ext cx="1902770" cy="328344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133612" y="2760762"/>
            <a:ext cx="213315" cy="2667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5</a:t>
            </a:r>
            <a:endParaRPr lang="en-US" b="1" dirty="0">
              <a:solidFill>
                <a:srgbClr val="FFFFF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9508589" y="3338612"/>
            <a:ext cx="1496380" cy="5556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Operational Explanation</a:t>
            </a:r>
            <a:endParaRPr lang="en-US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9508589" y="4000897"/>
            <a:ext cx="1496380" cy="11378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Microsoft Sans Serif" panose="020B0604020202020204" charset="0"/>
                <a:ea typeface="Roboto" panose="02000000000000000000" pitchFamily="34" charset="-122"/>
                <a:cs typeface="Microsoft Sans Serif" panose="020B0604020202020204" charset="0"/>
              </a:rPr>
              <a:t>Generates human-readable audit trails for every recovery decision.</a:t>
            </a:r>
            <a:endParaRPr lang="en-US" sz="1400" dirty="0">
              <a:solidFill>
                <a:srgbClr val="15213F"/>
              </a:solidFill>
              <a:latin typeface="Microsoft Sans Serif" panose="020B0604020202020204" charset="0"/>
              <a:ea typeface="Roboto" panose="02000000000000000000" pitchFamily="34" charset="-122"/>
              <a:cs typeface="Microsoft Sans Serif" panose="020B060402020202020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1054715" y="6558915"/>
            <a:ext cx="1113790" cy="29845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Text Box 27"/>
          <p:cNvSpPr txBox="1"/>
          <p:nvPr/>
        </p:nvSpPr>
        <p:spPr>
          <a:xfrm>
            <a:off x="0" y="6517640"/>
            <a:ext cx="12230735" cy="356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TEAM- Stack_OverFlow</a:t>
            </a:r>
            <a:endParaRPr 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713581"/>
            <a:ext cx="10224633" cy="361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FROM SCHEDULE TO RESILIENT OPERATION</a:t>
            </a:r>
            <a:endParaRPr lang="en-US" sz="2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9256" y="1224955"/>
            <a:ext cx="6433084" cy="24139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63510" y="2794635"/>
            <a:ext cx="17526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RE-OPTIMIZE</a:t>
            </a:r>
            <a:endParaRPr lang="en-US" sz="140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804733" y="2805278"/>
            <a:ext cx="970279" cy="1869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DISRUPTION</a:t>
            </a:r>
            <a:endParaRPr lang="en-US" sz="140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588562" y="2805278"/>
            <a:ext cx="970279" cy="1869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OPERATE</a:t>
            </a:r>
            <a:endParaRPr lang="en-US" sz="140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372391" y="2805278"/>
            <a:ext cx="970279" cy="1869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OPTIMIZE</a:t>
            </a:r>
            <a:endParaRPr lang="en-US" sz="140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129637" y="2805278"/>
            <a:ext cx="970278" cy="1869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INGEST</a:t>
            </a:r>
            <a:endParaRPr lang="en-US" sz="140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83531" y="3385741"/>
            <a:ext cx="4971330" cy="1805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3257B8"/>
                </a:solidFill>
                <a:latin typeface="Cambria" panose="02040503050406030204" charset="0"/>
                <a:ea typeface="Roboto Slab" pitchFamily="34" charset="-122"/>
                <a:cs typeface="Cambria" panose="02040503050406030204" charset="0"/>
              </a:rPr>
              <a:t>Optimization Engine</a:t>
            </a:r>
            <a:endParaRPr lang="en-US" b="1" dirty="0">
              <a:solidFill>
                <a:srgbClr val="3257B8"/>
              </a:solidFill>
              <a:latin typeface="Cambria" panose="02040503050406030204" charset="0"/>
              <a:ea typeface="Roboto Slab" pitchFamily="34" charset="-122"/>
              <a:cs typeface="Cambria" panose="0204050305040603020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83531" y="3723977"/>
            <a:ext cx="5580915" cy="1524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5213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Multi-objective Genetic Algorithm</a:t>
            </a: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— Input via Excel, JSON, or </a:t>
            </a:r>
            <a:endParaRPr lang="en-US" sz="14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default factory data.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243184" y="3385741"/>
            <a:ext cx="4971330" cy="1805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3257B8"/>
                </a:solidFill>
                <a:latin typeface="Cambria" panose="02040503050406030204" charset="0"/>
                <a:ea typeface="Roboto Slab" pitchFamily="34" charset="-122"/>
                <a:cs typeface="Cambria" panose="02040503050406030204" charset="0"/>
              </a:rPr>
              <a:t>Disruption Types Handled Output</a:t>
            </a:r>
            <a:endParaRPr lang="en-US" b="1" dirty="0">
              <a:solidFill>
                <a:srgbClr val="3257B8"/>
              </a:solidFill>
              <a:latin typeface="Cambria" panose="02040503050406030204" charset="0"/>
              <a:ea typeface="Roboto Slab" pitchFamily="34" charset="-122"/>
              <a:cs typeface="Cambria" panose="0204050305040603020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243320" y="3724275"/>
            <a:ext cx="4971415" cy="9017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Recovered schedule + rerouted operations</a:t>
            </a:r>
            <a:endParaRPr lang="en-US" sz="1400" dirty="0"/>
          </a:p>
          <a:p>
            <a:pPr marL="342900" indent="-342900" algn="l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Updated KPIs + resilience score</a:t>
            </a:r>
            <a:endParaRPr lang="en-US" sz="1400" dirty="0"/>
          </a:p>
          <a:p>
            <a:pPr marL="342900" indent="-342900" algn="l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Explanation / audit trail</a:t>
            </a:r>
            <a:endParaRPr lang="en-US" sz="14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31" y="4674989"/>
            <a:ext cx="2499754" cy="77102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64006" y="4761607"/>
            <a:ext cx="138605" cy="1733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600" b="1" dirty="0">
              <a:solidFill>
                <a:srgbClr val="FFFFF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1111718" y="5087719"/>
            <a:ext cx="2243379" cy="1805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30% Makespan</a:t>
            </a:r>
            <a:endParaRPr lang="en-US" sz="160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58391" y="4674989"/>
            <a:ext cx="2499853" cy="77102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38966" y="4761607"/>
            <a:ext cx="138605" cy="1733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600" b="1" dirty="0">
              <a:solidFill>
                <a:srgbClr val="FFFFF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3686579" y="5087719"/>
            <a:ext cx="2243478" cy="1805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35% Tardiness</a:t>
            </a:r>
            <a:endParaRPr lang="en-US" sz="160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33351" y="4674989"/>
            <a:ext cx="2499853" cy="77102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13926" y="4761607"/>
            <a:ext cx="138605" cy="1733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600" b="1" dirty="0">
              <a:solidFill>
                <a:srgbClr val="FFFFF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6261539" y="5087719"/>
            <a:ext cx="2243478" cy="1805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15% Downtime</a:t>
            </a:r>
            <a:endParaRPr lang="en-US" sz="160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08311" y="4674989"/>
            <a:ext cx="2499853" cy="77102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888885" y="4761607"/>
            <a:ext cx="138605" cy="173335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600" b="1" dirty="0">
              <a:solidFill>
                <a:srgbClr val="FFFFF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24" name="Text 17"/>
          <p:cNvSpPr/>
          <p:nvPr/>
        </p:nvSpPr>
        <p:spPr>
          <a:xfrm>
            <a:off x="8836498" y="5087719"/>
            <a:ext cx="2243478" cy="1805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20% Energy</a:t>
            </a:r>
            <a:endParaRPr lang="en-US" sz="160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25" name="Shape 18"/>
          <p:cNvSpPr/>
          <p:nvPr/>
        </p:nvSpPr>
        <p:spPr>
          <a:xfrm>
            <a:off x="983531" y="5617071"/>
            <a:ext cx="10224633" cy="12700"/>
          </a:xfrm>
          <a:prstGeom prst="roundRect">
            <a:avLst>
              <a:gd name="adj" fmla="val 49999"/>
            </a:avLst>
          </a:prstGeom>
          <a:solidFill>
            <a:srgbClr val="CFD2D8"/>
          </a:solidFill>
        </p:spPr>
      </p:sp>
      <p:sp>
        <p:nvSpPr>
          <p:cNvPr id="26" name="Shape 19"/>
          <p:cNvSpPr/>
          <p:nvPr/>
        </p:nvSpPr>
        <p:spPr>
          <a:xfrm>
            <a:off x="1962101" y="5617021"/>
            <a:ext cx="12700" cy="231080"/>
          </a:xfrm>
          <a:prstGeom prst="roundRect">
            <a:avLst>
              <a:gd name="adj" fmla="val 49999"/>
            </a:avLst>
          </a:prstGeom>
          <a:solidFill>
            <a:srgbClr val="CFD2D8"/>
          </a:solidFill>
        </p:spPr>
      </p:sp>
      <p:sp>
        <p:nvSpPr>
          <p:cNvPr id="27" name="Shape 20"/>
          <p:cNvSpPr/>
          <p:nvPr/>
        </p:nvSpPr>
        <p:spPr>
          <a:xfrm>
            <a:off x="1925143" y="5573713"/>
            <a:ext cx="86616" cy="86618"/>
          </a:xfrm>
          <a:prstGeom prst="ellipse">
            <a:avLst/>
          </a:prstGeom>
          <a:solidFill>
            <a:srgbClr val="476FD6"/>
          </a:solidFill>
        </p:spPr>
      </p:sp>
      <p:sp>
        <p:nvSpPr>
          <p:cNvPr id="28" name="Text 21"/>
          <p:cNvSpPr/>
          <p:nvPr/>
        </p:nvSpPr>
        <p:spPr>
          <a:xfrm>
            <a:off x="1099019" y="5963841"/>
            <a:ext cx="1738864" cy="1805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Machine failure</a:t>
            </a:r>
            <a:endParaRPr lang="en-US" sz="160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4025799" y="5617021"/>
            <a:ext cx="12700" cy="231080"/>
          </a:xfrm>
          <a:prstGeom prst="roundRect">
            <a:avLst>
              <a:gd name="adj" fmla="val 49999"/>
            </a:avLst>
          </a:prstGeom>
          <a:solidFill>
            <a:srgbClr val="CFD2D8"/>
          </a:solidFill>
        </p:spPr>
      </p:sp>
      <p:sp>
        <p:nvSpPr>
          <p:cNvPr id="30" name="Shape 23"/>
          <p:cNvSpPr/>
          <p:nvPr/>
        </p:nvSpPr>
        <p:spPr>
          <a:xfrm>
            <a:off x="3988841" y="5573713"/>
            <a:ext cx="86616" cy="86618"/>
          </a:xfrm>
          <a:prstGeom prst="ellipse">
            <a:avLst/>
          </a:prstGeom>
          <a:solidFill>
            <a:srgbClr val="476FD6"/>
          </a:solidFill>
        </p:spPr>
      </p:sp>
      <p:sp>
        <p:nvSpPr>
          <p:cNvPr id="31" name="Text 24"/>
          <p:cNvSpPr/>
          <p:nvPr/>
        </p:nvSpPr>
        <p:spPr>
          <a:xfrm>
            <a:off x="3162717" y="5963841"/>
            <a:ext cx="1738864" cy="1805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Urgent job insertion</a:t>
            </a:r>
            <a:endParaRPr lang="en-US" sz="160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32" name="Shape 25"/>
          <p:cNvSpPr/>
          <p:nvPr/>
        </p:nvSpPr>
        <p:spPr>
          <a:xfrm>
            <a:off x="6089498" y="5617021"/>
            <a:ext cx="12700" cy="231080"/>
          </a:xfrm>
          <a:prstGeom prst="roundRect">
            <a:avLst>
              <a:gd name="adj" fmla="val 49999"/>
            </a:avLst>
          </a:prstGeom>
          <a:solidFill>
            <a:srgbClr val="CFD2D8"/>
          </a:solidFill>
        </p:spPr>
      </p:sp>
      <p:sp>
        <p:nvSpPr>
          <p:cNvPr id="33" name="Shape 26"/>
          <p:cNvSpPr/>
          <p:nvPr/>
        </p:nvSpPr>
        <p:spPr>
          <a:xfrm>
            <a:off x="6052540" y="5573713"/>
            <a:ext cx="86616" cy="86618"/>
          </a:xfrm>
          <a:prstGeom prst="ellipse">
            <a:avLst/>
          </a:prstGeom>
          <a:solidFill>
            <a:srgbClr val="476FD6"/>
          </a:solidFill>
        </p:spPr>
      </p:sp>
      <p:sp>
        <p:nvSpPr>
          <p:cNvPr id="34" name="Text 27"/>
          <p:cNvSpPr/>
          <p:nvPr/>
        </p:nvSpPr>
        <p:spPr>
          <a:xfrm>
            <a:off x="5226415" y="5963841"/>
            <a:ext cx="1738864" cy="1805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Deadline change</a:t>
            </a:r>
            <a:endParaRPr lang="en-US" sz="160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35" name="Shape 28"/>
          <p:cNvSpPr/>
          <p:nvPr/>
        </p:nvSpPr>
        <p:spPr>
          <a:xfrm>
            <a:off x="8153196" y="5617021"/>
            <a:ext cx="12700" cy="231080"/>
          </a:xfrm>
          <a:prstGeom prst="roundRect">
            <a:avLst>
              <a:gd name="adj" fmla="val 49999"/>
            </a:avLst>
          </a:prstGeom>
          <a:solidFill>
            <a:srgbClr val="CFD2D8"/>
          </a:solidFill>
        </p:spPr>
      </p:sp>
      <p:sp>
        <p:nvSpPr>
          <p:cNvPr id="36" name="Shape 29"/>
          <p:cNvSpPr/>
          <p:nvPr/>
        </p:nvSpPr>
        <p:spPr>
          <a:xfrm>
            <a:off x="8116238" y="5573713"/>
            <a:ext cx="86616" cy="86618"/>
          </a:xfrm>
          <a:prstGeom prst="ellipse">
            <a:avLst/>
          </a:prstGeom>
          <a:solidFill>
            <a:srgbClr val="476FD6"/>
          </a:solidFill>
        </p:spPr>
      </p:sp>
      <p:sp>
        <p:nvSpPr>
          <p:cNvPr id="37" name="Text 30"/>
          <p:cNvSpPr/>
          <p:nvPr/>
        </p:nvSpPr>
        <p:spPr>
          <a:xfrm>
            <a:off x="7290114" y="5963841"/>
            <a:ext cx="1738864" cy="1805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Job cancellation</a:t>
            </a:r>
            <a:endParaRPr lang="en-US" sz="160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38" name="Shape 31"/>
          <p:cNvSpPr/>
          <p:nvPr/>
        </p:nvSpPr>
        <p:spPr>
          <a:xfrm>
            <a:off x="10216894" y="5617021"/>
            <a:ext cx="12700" cy="231080"/>
          </a:xfrm>
          <a:prstGeom prst="roundRect">
            <a:avLst>
              <a:gd name="adj" fmla="val 49999"/>
            </a:avLst>
          </a:prstGeom>
          <a:solidFill>
            <a:srgbClr val="CFD2D8"/>
          </a:solidFill>
        </p:spPr>
      </p:sp>
      <p:sp>
        <p:nvSpPr>
          <p:cNvPr id="39" name="Shape 32"/>
          <p:cNvSpPr/>
          <p:nvPr/>
        </p:nvSpPr>
        <p:spPr>
          <a:xfrm>
            <a:off x="10179936" y="5573713"/>
            <a:ext cx="86616" cy="86618"/>
          </a:xfrm>
          <a:prstGeom prst="ellipse">
            <a:avLst/>
          </a:prstGeom>
          <a:solidFill>
            <a:srgbClr val="476FD6"/>
          </a:solidFill>
        </p:spPr>
      </p:sp>
      <p:sp>
        <p:nvSpPr>
          <p:cNvPr id="40" name="Text 33"/>
          <p:cNvSpPr/>
          <p:nvPr/>
        </p:nvSpPr>
        <p:spPr>
          <a:xfrm>
            <a:off x="9353812" y="5963841"/>
            <a:ext cx="1738864" cy="1805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Unplanned downtime</a:t>
            </a:r>
            <a:endParaRPr lang="en-US" sz="160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1054715" y="6558915"/>
            <a:ext cx="1113790" cy="29845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3" name="Text Box 42"/>
          <p:cNvSpPr txBox="1"/>
          <p:nvPr/>
        </p:nvSpPr>
        <p:spPr>
          <a:xfrm>
            <a:off x="0" y="6517640"/>
            <a:ext cx="12230735" cy="356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TEAM- Stack_OverFlow</a:t>
            </a:r>
            <a:endParaRPr 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455593"/>
            <a:ext cx="10224633" cy="3611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WATCH IT RECOVER.</a:t>
            </a:r>
            <a:endParaRPr lang="en-US" sz="3200" dirty="0">
              <a:solidFill>
                <a:srgbClr val="3257B8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83531" y="1049516"/>
            <a:ext cx="10834218" cy="1524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Live demo scenario — 6 machines, 12 jobs. Machine M3 fails mid-production.</a:t>
            </a:r>
            <a:endParaRPr lang="en-US" sz="12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869929" y="1377216"/>
            <a:ext cx="3292492" cy="3813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00"/>
              <a:t>91</a:t>
            </a:r>
            <a:endParaRPr lang="en-US" sz="2800"/>
          </a:p>
        </p:txBody>
      </p:sp>
      <p:sp>
        <p:nvSpPr>
          <p:cNvPr id="5" name="Text 3"/>
          <p:cNvSpPr/>
          <p:nvPr/>
        </p:nvSpPr>
        <p:spPr>
          <a:xfrm>
            <a:off x="983531" y="1757045"/>
            <a:ext cx="5065387" cy="1805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Baseline Score</a:t>
            </a:r>
            <a:endParaRPr lang="en-US" sz="140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83531" y="1982668"/>
            <a:ext cx="5065387" cy="1524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Makespan 105 min · Tardiness 0 · Utilization 76.2% · Energy 71.2 kWh</a:t>
            </a:r>
            <a:endParaRPr lang="en-US" sz="12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029175" y="1377216"/>
            <a:ext cx="3292492" cy="3813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00"/>
              <a:t>48</a:t>
            </a:r>
            <a:endParaRPr lang="en-US" sz="2800"/>
          </a:p>
        </p:txBody>
      </p:sp>
      <p:sp>
        <p:nvSpPr>
          <p:cNvPr id="8" name="Text 6"/>
          <p:cNvSpPr/>
          <p:nvPr/>
        </p:nvSpPr>
        <p:spPr>
          <a:xfrm>
            <a:off x="6142777" y="1757045"/>
            <a:ext cx="5065387" cy="1805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E85D04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After M3 Fails</a:t>
            </a:r>
            <a:endParaRPr lang="en-US" sz="1400" dirty="0">
              <a:solidFill>
                <a:srgbClr val="E85D04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142777" y="1982668"/>
            <a:ext cx="5065387" cy="1524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J7 + J12 affected · Only 5/6 machines available · Resilience collapses</a:t>
            </a:r>
            <a:endParaRPr lang="en-US" sz="12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69929" y="2458700"/>
            <a:ext cx="3292492" cy="3813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00"/>
              <a:t>82</a:t>
            </a:r>
            <a:endParaRPr lang="en-US" sz="2800"/>
          </a:p>
        </p:txBody>
      </p:sp>
      <p:sp>
        <p:nvSpPr>
          <p:cNvPr id="11" name="Text 9"/>
          <p:cNvSpPr/>
          <p:nvPr/>
        </p:nvSpPr>
        <p:spPr>
          <a:xfrm>
            <a:off x="983531" y="2838529"/>
            <a:ext cx="5065387" cy="1805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06A77D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After Recovery</a:t>
            </a:r>
            <a:endParaRPr lang="en-US" sz="1400" dirty="0">
              <a:solidFill>
                <a:srgbClr val="06A77D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83531" y="3064153"/>
            <a:ext cx="5065387" cy="1524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J7 + J12 rerouted · Makespan 125 min · Tardiness 0 </a:t>
            </a:r>
            <a:endParaRPr lang="en-US" sz="12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· Energy 66.5 kWh · Late jobs: 0</a:t>
            </a:r>
            <a:endParaRPr lang="en-US" sz="12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029175" y="2458700"/>
            <a:ext cx="3292492" cy="3813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800"/>
              <a:t>0.18s</a:t>
            </a:r>
            <a:endParaRPr lang="en-US" sz="2800"/>
          </a:p>
        </p:txBody>
      </p:sp>
      <p:sp>
        <p:nvSpPr>
          <p:cNvPr id="14" name="Text 12"/>
          <p:cNvSpPr/>
          <p:nvPr/>
        </p:nvSpPr>
        <p:spPr>
          <a:xfrm>
            <a:off x="6142777" y="2838529"/>
            <a:ext cx="5065387" cy="1805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0052CC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Recovery Time</a:t>
            </a:r>
            <a:endParaRPr lang="en-US" sz="1400" dirty="0">
              <a:solidFill>
                <a:srgbClr val="0052CC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142777" y="3064153"/>
            <a:ext cx="5065387" cy="1524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Measured demo result — full re-optimization computed in under a fifth of a second</a:t>
            </a:r>
            <a:endParaRPr lang="en-US" sz="12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615" y="3598545"/>
            <a:ext cx="10161905" cy="3020695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1054715" y="6558915"/>
            <a:ext cx="1113790" cy="29845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Text Box 27"/>
          <p:cNvSpPr txBox="1"/>
          <p:nvPr/>
        </p:nvSpPr>
        <p:spPr>
          <a:xfrm>
            <a:off x="0" y="6534150"/>
            <a:ext cx="12230735" cy="356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TEAM- Stack_OverFlow</a:t>
            </a:r>
            <a:endParaRPr 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734516"/>
            <a:ext cx="10224633" cy="52794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INTELLIGENCE BEHIND THE RECOVERY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31" y="1583333"/>
            <a:ext cx="3301223" cy="28158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07493" y="1697335"/>
            <a:ext cx="253299" cy="31670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171446" y="2269530"/>
            <a:ext cx="2925392" cy="263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LAYER 1 — OPTIMIZATION</a:t>
            </a:r>
            <a:endParaRPr lang="en-US" sz="1650" b="1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71446" y="2629694"/>
            <a:ext cx="2925392" cy="15811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Multi-objective Genetic Algorithm</a:t>
            </a:r>
            <a:r>
              <a:rPr lang="en-US" sz="13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— Permutation chromosome · Population: 20 · Generations: 30 · Mutation rate: 0.10 · Binary tournament selection · Order crossover + Swap mutation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45186" y="1583333"/>
            <a:ext cx="3301223" cy="28158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69148" y="1697335"/>
            <a:ext cx="253299" cy="31670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4633102" y="2269530"/>
            <a:ext cx="2925392" cy="5278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LAYER 2 — RESILIENCE ENGINE</a:t>
            </a:r>
            <a:endParaRPr lang="en-US" sz="1650" b="1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633102" y="2893616"/>
            <a:ext cx="2925392" cy="13176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Detects disruptions in real time and computes full recovery plans — rerouting affected operations while respecting all machine and precedence constraints.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06842" y="1583333"/>
            <a:ext cx="3301322" cy="28158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430804" y="1697335"/>
            <a:ext cx="253299" cy="31670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8094758" y="2269530"/>
            <a:ext cx="2925491" cy="263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LAYER 3 — AI REASONING</a:t>
            </a:r>
            <a:endParaRPr lang="en-US" sz="1650" b="1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8094758" y="2629694"/>
            <a:ext cx="2925491" cy="13176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5213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Claude 3.5 Sonnet</a:t>
            </a:r>
            <a:r>
              <a:rPr lang="en-US" sz="13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— Advisory only. Root-cause reasoning · Identifying affected entities · Actionable operational guidance · Deterministic expert fallback when unavailable.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983531" y="4740077"/>
            <a:ext cx="4906244" cy="263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Supporting Intelligence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983531" y="5164435"/>
            <a:ext cx="4906244" cy="9028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SPT / EDD dispatching heuristics</a:t>
            </a:r>
            <a:endParaRPr lang="en-US" sz="1300" dirty="0"/>
          </a:p>
          <a:p>
            <a:pPr marL="264160" indent="-264160" algn="l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Temporal constraint interval propagation</a:t>
            </a:r>
            <a:endParaRPr lang="en-US" sz="1300" dirty="0"/>
          </a:p>
          <a:p>
            <a:pPr marL="264160" indent="-264160" algn="l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Fuzzy header / synonym matching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308270" y="4740077"/>
            <a:ext cx="4906244" cy="2639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 Stack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6308270" y="5164435"/>
            <a:ext cx="4906244" cy="9028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Python · FastAPI · Uvicorn · Pydantic · OpenPyXL</a:t>
            </a:r>
            <a:endParaRPr lang="en-US" sz="1300" dirty="0"/>
          </a:p>
          <a:p>
            <a:pPr marL="264160" indent="-264160" algn="l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HTML / CSS / JavaScript · GSAP · SVG/Canvas Gantt</a:t>
            </a:r>
            <a:endParaRPr lang="en-US" sz="1300" dirty="0"/>
          </a:p>
          <a:p>
            <a:pPr marL="264160" indent="-264160" algn="l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Pytest</a:t>
            </a:r>
            <a:endParaRPr lang="en-US" sz="1300" dirty="0"/>
          </a:p>
        </p:txBody>
      </p:sp>
      <p:sp>
        <p:nvSpPr>
          <p:cNvPr id="27" name="Rectangle 26"/>
          <p:cNvSpPr/>
          <p:nvPr/>
        </p:nvSpPr>
        <p:spPr>
          <a:xfrm>
            <a:off x="11054715" y="6558915"/>
            <a:ext cx="1113790" cy="29845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Text Box 27"/>
          <p:cNvSpPr txBox="1"/>
          <p:nvPr/>
        </p:nvSpPr>
        <p:spPr>
          <a:xfrm>
            <a:off x="0" y="6517640"/>
            <a:ext cx="12230735" cy="356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TEAM- Stack_OverFlow</a:t>
            </a:r>
            <a:endParaRPr 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717153"/>
            <a:ext cx="10224633" cy="5000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FROM SCHEDULING TO RESILIENCE.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983531" y="1577181"/>
            <a:ext cx="4810997" cy="2500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257B8"/>
                </a:solidFill>
                <a:latin typeface="Cambria" panose="02040503050406030204" charset="0"/>
                <a:ea typeface="Roboto Slab" pitchFamily="34" charset="-122"/>
                <a:cs typeface="Cambria" panose="02040503050406030204" charset="0"/>
              </a:rPr>
              <a:t>Static Scheduling</a:t>
            </a:r>
            <a:endParaRPr lang="en-US" sz="2000" b="1" dirty="0">
              <a:solidFill>
                <a:srgbClr val="3257B8"/>
              </a:solidFill>
              <a:latin typeface="Cambria" panose="02040503050406030204" charset="0"/>
              <a:ea typeface="Roboto Slab" pitchFamily="34" charset="-122"/>
              <a:cs typeface="Cambria" panose="0204050305040603020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4481" y="1970187"/>
            <a:ext cx="4830046" cy="6752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1567" y="2022257"/>
            <a:ext cx="4612961" cy="2500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Arial" panose="020B0604020202020204" pitchFamily="34" charset="0"/>
                <a:ea typeface="Roboto Slab" pitchFamily="34" charset="-122"/>
                <a:cs typeface="Arial" panose="020B0604020202020204" pitchFamily="34" charset="0"/>
              </a:rPr>
              <a:t>Create once</a:t>
            </a:r>
            <a:endParaRPr lang="en-US" sz="1600" b="1" dirty="0">
              <a:solidFill>
                <a:srgbClr val="15213F"/>
              </a:solidFill>
              <a:latin typeface="Arial" panose="020B0604020202020204" pitchFamily="34" charset="0"/>
              <a:ea typeface="Roboto Slab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81567" y="2350214"/>
            <a:ext cx="4612961" cy="2431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Assumes stable conditions throughout production.</a:t>
            </a:r>
            <a:endParaRPr lang="en-US" sz="14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4481" y="2895402"/>
            <a:ext cx="4830046" cy="6752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1567" y="2947472"/>
            <a:ext cx="4612961" cy="2500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Arial" panose="020B0604020202020204" pitchFamily="34" charset="0"/>
                <a:ea typeface="Roboto Slab" pitchFamily="34" charset="-122"/>
                <a:cs typeface="Arial" panose="020B0604020202020204" pitchFamily="34" charset="0"/>
              </a:rPr>
              <a:t>Manual recovery</a:t>
            </a:r>
            <a:endParaRPr lang="en-US" sz="1600" b="1" dirty="0">
              <a:solidFill>
                <a:srgbClr val="15213F"/>
              </a:solidFill>
              <a:latin typeface="Arial" panose="020B0604020202020204" pitchFamily="34" charset="0"/>
              <a:ea typeface="Roboto Slab" pitchFamily="34" charset="-122"/>
              <a:cs typeface="Arial" panose="020B0604020202020204" pitchFamily="34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1181567" y="3275429"/>
            <a:ext cx="4612961" cy="2431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Delayed human response when disruptions occur.</a:t>
            </a:r>
            <a:endParaRPr lang="en-US" sz="14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4481" y="3820616"/>
            <a:ext cx="4830046" cy="6752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1567" y="3872686"/>
            <a:ext cx="4612961" cy="2500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Arial" panose="020B0604020202020204" pitchFamily="34" charset="0"/>
                <a:ea typeface="Roboto Slab" pitchFamily="34" charset="-122"/>
                <a:cs typeface="Arial" panose="020B0604020202020204" pitchFamily="34" charset="0"/>
              </a:rPr>
              <a:t>Limited visibility</a:t>
            </a:r>
            <a:endParaRPr lang="en-US" sz="1600" b="1" dirty="0">
              <a:solidFill>
                <a:srgbClr val="15213F"/>
              </a:solidFill>
              <a:latin typeface="Arial" panose="020B0604020202020204" pitchFamily="34" charset="0"/>
              <a:ea typeface="Roboto Slab" pitchFamily="34" charset="-122"/>
              <a:cs typeface="Arial" panose="020B0604020202020204" pitchFamily="34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181567" y="4200644"/>
            <a:ext cx="4612961" cy="2431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No measurement of disruption impact or recovery quality.</a:t>
            </a:r>
            <a:endParaRPr lang="en-US" sz="14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191194" y="1577181"/>
            <a:ext cx="5023220" cy="2500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257B8"/>
                </a:solidFill>
                <a:latin typeface="Cambria" panose="02040503050406030204" charset="0"/>
                <a:ea typeface="Roboto Slab" pitchFamily="34" charset="-122"/>
                <a:cs typeface="Cambria" panose="02040503050406030204" charset="0"/>
              </a:rPr>
              <a:t>FLOWFORGE AI — Closed Loop</a:t>
            </a:r>
            <a:endParaRPr lang="en-US" sz="2000" b="1" dirty="0">
              <a:solidFill>
                <a:srgbClr val="3257B8"/>
              </a:solidFill>
              <a:latin typeface="Cambria" panose="02040503050406030204" charset="0"/>
              <a:ea typeface="Roboto Slab" pitchFamily="34" charset="-122"/>
              <a:cs typeface="Cambria" panose="02040503050406030204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2200" y="1970405"/>
            <a:ext cx="1573530" cy="5619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89230" y="1989237"/>
            <a:ext cx="1356386" cy="2500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SCHEDULE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6389230" y="2383234"/>
            <a:ext cx="1356386" cy="615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1000"/>
              </a:spcAft>
              <a:buNone/>
            </a:pPr>
            <a:endParaRPr lang="en-US" sz="12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06385" y="1970405"/>
            <a:ext cx="1573530" cy="5619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123630" y="1989237"/>
            <a:ext cx="1356386" cy="2500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OBSERVE</a:t>
            </a:r>
            <a:endParaRPr lang="en-US" sz="15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41205" y="1970405"/>
            <a:ext cx="1573530" cy="56197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9858029" y="1989237"/>
            <a:ext cx="1356386" cy="2500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DISRUPT</a:t>
            </a:r>
            <a:endParaRPr lang="en-US" sz="15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2200" y="3268345"/>
            <a:ext cx="1573530" cy="56515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389230" y="3287216"/>
            <a:ext cx="1356386" cy="2500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RECOVER</a:t>
            </a:r>
            <a:endParaRPr lang="en-US" sz="155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06385" y="3268345"/>
            <a:ext cx="1573530" cy="54102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8123630" y="3287216"/>
            <a:ext cx="1356386" cy="2500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MEASURE</a:t>
            </a:r>
            <a:endParaRPr lang="en-US" sz="1550" dirty="0"/>
          </a:p>
        </p:txBody>
      </p:sp>
      <p:sp>
        <p:nvSpPr>
          <p:cNvPr id="25" name="Text 15"/>
          <p:cNvSpPr/>
          <p:nvPr/>
        </p:nvSpPr>
        <p:spPr>
          <a:xfrm>
            <a:off x="8123630" y="3681214"/>
            <a:ext cx="1356386" cy="615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1000"/>
              </a:spcAft>
              <a:buNone/>
            </a:pPr>
            <a:endParaRPr lang="en-US" sz="125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41205" y="3268345"/>
            <a:ext cx="1573530" cy="516255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9858029" y="3287216"/>
            <a:ext cx="1356386" cy="2500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EXPLAIN</a:t>
            </a:r>
            <a:endParaRPr lang="en-US" sz="1550" dirty="0"/>
          </a:p>
        </p:txBody>
      </p:sp>
      <p:sp>
        <p:nvSpPr>
          <p:cNvPr id="28" name="Text 17"/>
          <p:cNvSpPr/>
          <p:nvPr/>
        </p:nvSpPr>
        <p:spPr>
          <a:xfrm>
            <a:off x="983531" y="4854873"/>
            <a:ext cx="10224633" cy="2500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Applications</a:t>
            </a:r>
            <a:endParaRPr lang="en-US" sz="1550" dirty="0"/>
          </a:p>
        </p:txBody>
      </p:sp>
      <p:sp>
        <p:nvSpPr>
          <p:cNvPr id="29" name="Shape 18"/>
          <p:cNvSpPr/>
          <p:nvPr/>
        </p:nvSpPr>
        <p:spPr>
          <a:xfrm>
            <a:off x="983531" y="5320903"/>
            <a:ext cx="10224633" cy="819944"/>
          </a:xfrm>
          <a:prstGeom prst="roundRect">
            <a:avLst>
              <a:gd name="adj" fmla="val 2928"/>
            </a:avLst>
          </a:prstGeom>
          <a:solidFill>
            <a:srgbClr val="E9ECF2"/>
          </a:solidFill>
        </p:spPr>
      </p:sp>
      <p:sp>
        <p:nvSpPr>
          <p:cNvPr id="30" name="Shape 19"/>
          <p:cNvSpPr/>
          <p:nvPr/>
        </p:nvSpPr>
        <p:spPr>
          <a:xfrm>
            <a:off x="983531" y="5320903"/>
            <a:ext cx="2556109" cy="819944"/>
          </a:xfrm>
          <a:custGeom>
            <a:avLst/>
            <a:gdLst/>
            <a:ahLst/>
            <a:cxnLst/>
            <a:rect l="l" t="t" r="r" b="b"/>
            <a:pathLst>
              <a:path w="2556109" h="819944">
                <a:moveTo>
                  <a:pt x="20004" y="0"/>
                </a:moveTo>
                <a:lnTo>
                  <a:pt x="2556109" y="0"/>
                </a:lnTo>
                <a:lnTo>
                  <a:pt x="2556109" y="819944"/>
                </a:lnTo>
                <a:lnTo>
                  <a:pt x="20004" y="819944"/>
                </a:lnTo>
                <a:arcTo wR="20004" hR="20005" stAng="5400000" swAng="5400000"/>
                <a:lnTo>
                  <a:pt x="0" y="20005"/>
                </a:lnTo>
                <a:arcTo wR="20004" hR="20005" stAng="10800000" swAng="5400000"/>
                <a:close/>
              </a:path>
            </a:pathLst>
          </a:custGeom>
          <a:solidFill>
            <a:srgbClr val="E9ECF2"/>
          </a:solidFill>
        </p:spPr>
      </p:sp>
      <p:sp>
        <p:nvSpPr>
          <p:cNvPr id="31" name="Text 20"/>
          <p:cNvSpPr/>
          <p:nvPr/>
        </p:nvSpPr>
        <p:spPr>
          <a:xfrm>
            <a:off x="1143467" y="5480844"/>
            <a:ext cx="2236235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Job-Shop Manufacturing</a:t>
            </a:r>
            <a:endParaRPr lang="en-US" sz="1550" dirty="0"/>
          </a:p>
        </p:txBody>
      </p:sp>
      <p:sp>
        <p:nvSpPr>
          <p:cNvPr id="32" name="Shape 21"/>
          <p:cNvSpPr/>
          <p:nvPr/>
        </p:nvSpPr>
        <p:spPr>
          <a:xfrm>
            <a:off x="3539640" y="5320903"/>
            <a:ext cx="2556208" cy="819944"/>
          </a:xfrm>
          <a:prstGeom prst="rect">
            <a:avLst/>
          </a:prstGeom>
          <a:solidFill>
            <a:srgbClr val="E9ECF2"/>
          </a:solidFill>
        </p:spPr>
      </p:sp>
      <p:sp>
        <p:nvSpPr>
          <p:cNvPr id="33" name="Shape 22"/>
          <p:cNvSpPr/>
          <p:nvPr/>
        </p:nvSpPr>
        <p:spPr>
          <a:xfrm>
            <a:off x="3539640" y="5320903"/>
            <a:ext cx="19050" cy="819944"/>
          </a:xfrm>
          <a:prstGeom prst="roundRect">
            <a:avLst>
              <a:gd name="adj" fmla="val 49999"/>
            </a:avLst>
          </a:prstGeom>
          <a:solidFill>
            <a:srgbClr val="CFD2D8"/>
          </a:solidFill>
        </p:spPr>
      </p:sp>
      <p:sp>
        <p:nvSpPr>
          <p:cNvPr id="34" name="Text 23"/>
          <p:cNvSpPr/>
          <p:nvPr/>
        </p:nvSpPr>
        <p:spPr>
          <a:xfrm>
            <a:off x="3699576" y="5480844"/>
            <a:ext cx="2236335" cy="2500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CNC / Precision</a:t>
            </a:r>
            <a:endParaRPr lang="en-US" sz="1550" dirty="0"/>
          </a:p>
        </p:txBody>
      </p:sp>
      <p:sp>
        <p:nvSpPr>
          <p:cNvPr id="35" name="Shape 24"/>
          <p:cNvSpPr/>
          <p:nvPr/>
        </p:nvSpPr>
        <p:spPr>
          <a:xfrm>
            <a:off x="6095848" y="5320903"/>
            <a:ext cx="2556109" cy="819944"/>
          </a:xfrm>
          <a:prstGeom prst="rect">
            <a:avLst/>
          </a:prstGeom>
          <a:solidFill>
            <a:srgbClr val="E9ECF2"/>
          </a:solidFill>
        </p:spPr>
      </p:sp>
      <p:sp>
        <p:nvSpPr>
          <p:cNvPr id="36" name="Shape 25"/>
          <p:cNvSpPr/>
          <p:nvPr/>
        </p:nvSpPr>
        <p:spPr>
          <a:xfrm>
            <a:off x="6095848" y="5320903"/>
            <a:ext cx="19050" cy="819944"/>
          </a:xfrm>
          <a:prstGeom prst="roundRect">
            <a:avLst>
              <a:gd name="adj" fmla="val 49999"/>
            </a:avLst>
          </a:prstGeom>
          <a:solidFill>
            <a:srgbClr val="CFD2D8"/>
          </a:solidFill>
        </p:spPr>
      </p:sp>
      <p:sp>
        <p:nvSpPr>
          <p:cNvPr id="37" name="Text 26"/>
          <p:cNvSpPr/>
          <p:nvPr/>
        </p:nvSpPr>
        <p:spPr>
          <a:xfrm>
            <a:off x="6255784" y="5480844"/>
            <a:ext cx="2236235" cy="2500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Production Cells</a:t>
            </a:r>
            <a:endParaRPr lang="en-US" sz="1550" dirty="0"/>
          </a:p>
        </p:txBody>
      </p:sp>
      <p:sp>
        <p:nvSpPr>
          <p:cNvPr id="38" name="Shape 27"/>
          <p:cNvSpPr/>
          <p:nvPr/>
        </p:nvSpPr>
        <p:spPr>
          <a:xfrm>
            <a:off x="8651956" y="5320903"/>
            <a:ext cx="2556208" cy="819944"/>
          </a:xfrm>
          <a:custGeom>
            <a:avLst/>
            <a:gdLst/>
            <a:ahLst/>
            <a:cxnLst/>
            <a:rect l="l" t="t" r="r" b="b"/>
            <a:pathLst>
              <a:path w="2556208" h="819944">
                <a:moveTo>
                  <a:pt x="0" y="0"/>
                </a:moveTo>
                <a:lnTo>
                  <a:pt x="2536203" y="0"/>
                </a:lnTo>
                <a:arcTo wR="20004" hR="20005" stAng="16200000" swAng="5400000"/>
                <a:lnTo>
                  <a:pt x="2556208" y="799939"/>
                </a:lnTo>
                <a:arcTo wR="20004" hR="20005" stAng="0" swAng="5400000"/>
                <a:lnTo>
                  <a:pt x="0" y="819944"/>
                </a:lnTo>
                <a:lnTo>
                  <a:pt x="0" y="0"/>
                </a:lnTo>
                <a:close/>
              </a:path>
            </a:pathLst>
          </a:custGeom>
          <a:solidFill>
            <a:srgbClr val="E9ECF2"/>
          </a:solidFill>
        </p:spPr>
      </p:sp>
      <p:sp>
        <p:nvSpPr>
          <p:cNvPr id="39" name="Shape 28"/>
          <p:cNvSpPr/>
          <p:nvPr/>
        </p:nvSpPr>
        <p:spPr>
          <a:xfrm>
            <a:off x="8651956" y="5320903"/>
            <a:ext cx="19050" cy="819944"/>
          </a:xfrm>
          <a:prstGeom prst="roundRect">
            <a:avLst>
              <a:gd name="adj" fmla="val 49999"/>
            </a:avLst>
          </a:prstGeom>
          <a:solidFill>
            <a:srgbClr val="CFD2D8"/>
          </a:solidFill>
        </p:spPr>
      </p:sp>
      <p:sp>
        <p:nvSpPr>
          <p:cNvPr id="40" name="Text 29"/>
          <p:cNvSpPr/>
          <p:nvPr/>
        </p:nvSpPr>
        <p:spPr>
          <a:xfrm>
            <a:off x="8811893" y="5480844"/>
            <a:ext cx="2236335" cy="2500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Make-to-Order</a:t>
            </a:r>
            <a:endParaRPr lang="en-US" sz="1550" dirty="0"/>
          </a:p>
        </p:txBody>
      </p:sp>
      <p:sp>
        <p:nvSpPr>
          <p:cNvPr id="41" name="Rectangle 40"/>
          <p:cNvSpPr/>
          <p:nvPr/>
        </p:nvSpPr>
        <p:spPr>
          <a:xfrm>
            <a:off x="11054715" y="6558915"/>
            <a:ext cx="1113790" cy="29845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42" name="Text Box 41"/>
          <p:cNvSpPr txBox="1"/>
          <p:nvPr/>
        </p:nvSpPr>
        <p:spPr>
          <a:xfrm>
            <a:off x="0" y="6517640"/>
            <a:ext cx="12230735" cy="356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TEAM- Stack_OverFlow</a:t>
            </a:r>
            <a:endParaRPr 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3531" y="724694"/>
            <a:ext cx="10224633" cy="9445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TODAY, FLOWFORGE REACTS. TOMORROW, IT PREDICTS.</a:t>
            </a:r>
            <a:endParaRPr lang="en-US" sz="3200" dirty="0">
              <a:solidFill>
                <a:srgbClr val="3257B8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3615" y="2006600"/>
            <a:ext cx="878840" cy="229235"/>
          </a:xfrm>
          <a:prstGeom prst="roundRect">
            <a:avLst>
              <a:gd name="adj" fmla="val 7896"/>
            </a:avLst>
          </a:prstGeom>
          <a:solidFill>
            <a:srgbClr val="D7DFF4"/>
          </a:solidFill>
        </p:spPr>
      </p:sp>
      <p:sp>
        <p:nvSpPr>
          <p:cNvPr id="4" name="Text 2"/>
          <p:cNvSpPr/>
          <p:nvPr/>
        </p:nvSpPr>
        <p:spPr>
          <a:xfrm>
            <a:off x="1074215" y="2051745"/>
            <a:ext cx="1140888" cy="1390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CURRENT</a:t>
            </a:r>
            <a:endParaRPr lang="en-US" sz="1200" dirty="0">
              <a:solidFill>
                <a:srgbClr val="15213F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83531" y="2380555"/>
            <a:ext cx="340014" cy="340023"/>
          </a:xfrm>
          <a:prstGeom prst="roundRect">
            <a:avLst>
              <a:gd name="adj" fmla="val 6668"/>
            </a:avLst>
          </a:prstGeom>
          <a:solidFill>
            <a:srgbClr val="E9ECF2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0134" y="2437110"/>
            <a:ext cx="226709" cy="2267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51931" y="2432447"/>
            <a:ext cx="4459573" cy="2361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Adaptive scheduling</a:t>
            </a:r>
            <a:endParaRPr lang="en-US" sz="160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83531" y="2977455"/>
            <a:ext cx="340014" cy="340023"/>
          </a:xfrm>
          <a:prstGeom prst="roundRect">
            <a:avLst>
              <a:gd name="adj" fmla="val 6668"/>
            </a:avLst>
          </a:prstGeom>
          <a:solidFill>
            <a:srgbClr val="E9ECF2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0134" y="3034010"/>
            <a:ext cx="226709" cy="22671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51931" y="3029347"/>
            <a:ext cx="4459573" cy="2361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Disruption recovery</a:t>
            </a:r>
            <a:endParaRPr lang="en-US" sz="160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983531" y="3574355"/>
            <a:ext cx="340014" cy="340023"/>
          </a:xfrm>
          <a:prstGeom prst="roundRect">
            <a:avLst>
              <a:gd name="adj" fmla="val 6668"/>
            </a:avLst>
          </a:prstGeom>
          <a:solidFill>
            <a:srgbClr val="E9ECF2"/>
          </a:solidFill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0134" y="3630910"/>
            <a:ext cx="226709" cy="22671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51931" y="3626247"/>
            <a:ext cx="4459573" cy="2361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Resilience measurement</a:t>
            </a:r>
            <a:endParaRPr lang="en-US" sz="160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983531" y="4171255"/>
            <a:ext cx="340014" cy="340023"/>
          </a:xfrm>
          <a:prstGeom prst="roundRect">
            <a:avLst>
              <a:gd name="adj" fmla="val 6668"/>
            </a:avLst>
          </a:prstGeom>
          <a:solidFill>
            <a:srgbClr val="E9ECF2"/>
          </a:solidFill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40134" y="4227810"/>
            <a:ext cx="226709" cy="22671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51931" y="4223147"/>
            <a:ext cx="4459573" cy="2361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AI-assisted operational reasoning</a:t>
            </a:r>
            <a:endParaRPr lang="en-US" sz="160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17" name="Shape 11"/>
          <p:cNvSpPr/>
          <p:nvPr/>
        </p:nvSpPr>
        <p:spPr>
          <a:xfrm>
            <a:off x="6286500" y="2006600"/>
            <a:ext cx="1246505" cy="229235"/>
          </a:xfrm>
          <a:prstGeom prst="roundRect">
            <a:avLst>
              <a:gd name="adj" fmla="val 7896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8" name="Text 12"/>
          <p:cNvSpPr/>
          <p:nvPr/>
        </p:nvSpPr>
        <p:spPr>
          <a:xfrm>
            <a:off x="6377225" y="2051745"/>
            <a:ext cx="1456892" cy="1390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200" dirty="0">
                <a:solidFill>
                  <a:srgbClr val="3257B8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FUTURE SCOPE</a:t>
            </a:r>
            <a:endParaRPr lang="en-US" sz="1200" dirty="0">
              <a:solidFill>
                <a:srgbClr val="3257B8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43144" y="2437110"/>
            <a:ext cx="226709" cy="22671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754941" y="2432447"/>
            <a:ext cx="4459573" cy="2361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Predictive maintenance</a:t>
            </a:r>
            <a:endParaRPr lang="en-US" sz="160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43144" y="3034010"/>
            <a:ext cx="226709" cy="22671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754941" y="3029347"/>
            <a:ext cx="4459573" cy="2361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Live IoT telemetry</a:t>
            </a:r>
            <a:endParaRPr lang="en-US" sz="160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43144" y="3630910"/>
            <a:ext cx="226709" cy="22671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6754941" y="3626247"/>
            <a:ext cx="4459573" cy="2361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Digital twin</a:t>
            </a:r>
            <a:endParaRPr lang="en-US" sz="160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43144" y="4227810"/>
            <a:ext cx="226709" cy="226715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6754941" y="4223147"/>
            <a:ext cx="4459573" cy="2361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Reinforcement learning</a:t>
            </a:r>
            <a:endParaRPr lang="en-US" sz="160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343144" y="4824710"/>
            <a:ext cx="226709" cy="226715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6754941" y="4820047"/>
            <a:ext cx="4459573" cy="2361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MES / ERP integration</a:t>
            </a:r>
            <a:endParaRPr lang="en-US" sz="1600" dirty="0">
              <a:solidFill>
                <a:srgbClr val="15213F"/>
              </a:solidFill>
              <a:latin typeface="Roboto Slab" pitchFamily="34" charset="0"/>
              <a:ea typeface="Roboto Slab" pitchFamily="34" charset="-122"/>
              <a:cs typeface="Roboto Slab" pitchFamily="34" charset="-120"/>
            </a:endParaRPr>
          </a:p>
        </p:txBody>
      </p:sp>
      <p:sp>
        <p:nvSpPr>
          <p:cNvPr id="29" name="Text 18"/>
          <p:cNvSpPr/>
          <p:nvPr/>
        </p:nvSpPr>
        <p:spPr>
          <a:xfrm>
            <a:off x="1144200" y="5475526"/>
            <a:ext cx="9997924" cy="4472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00" b="1" dirty="0">
                <a:solidFill>
                  <a:srgbClr val="15213F"/>
                </a:solidFill>
                <a:latin typeface="Roboto Bold" panose="02000000000000000000" pitchFamily="34" charset="0"/>
                <a:ea typeface="Roboto Bold" panose="02000000000000000000" pitchFamily="34" charset="-122"/>
                <a:cs typeface="Roboto Bold" panose="02000000000000000000" pitchFamily="34" charset="-120"/>
              </a:rPr>
              <a:t>DON'T JUST OPTIMIZE THE FACTORY. MAKE IT RESILIENT.</a:t>
            </a:r>
            <a:endParaRPr lang="en-US" sz="16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600" dirty="0">
                <a:solidFill>
                  <a:srgbClr val="0052CC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FLOWFORGE AI</a:t>
            </a:r>
            <a:endParaRPr lang="en-US" sz="1600" dirty="0">
              <a:solidFill>
                <a:srgbClr val="0052CC"/>
              </a:solidFill>
              <a:latin typeface="Roboto" panose="02000000000000000000" pitchFamily="34" charset="0"/>
              <a:ea typeface="Roboto" panose="02000000000000000000" pitchFamily="34" charset="-122"/>
              <a:cs typeface="Roboto" panose="02000000000000000000" pitchFamily="34" charset="-120"/>
            </a:endParaRPr>
          </a:p>
        </p:txBody>
      </p:sp>
      <p:sp>
        <p:nvSpPr>
          <p:cNvPr id="30" name="Shape 19"/>
          <p:cNvSpPr/>
          <p:nvPr/>
        </p:nvSpPr>
        <p:spPr>
          <a:xfrm>
            <a:off x="983531" y="5397103"/>
            <a:ext cx="19050" cy="736203"/>
          </a:xfrm>
          <a:prstGeom prst="roundRect">
            <a:avLst>
              <a:gd name="adj" fmla="val 49999"/>
            </a:avLst>
          </a:prstGeom>
          <a:solidFill>
            <a:srgbClr val="3257B8"/>
          </a:solidFill>
        </p:spPr>
      </p:sp>
      <p:sp>
        <p:nvSpPr>
          <p:cNvPr id="31" name="Rectangle 30"/>
          <p:cNvSpPr/>
          <p:nvPr/>
        </p:nvSpPr>
        <p:spPr>
          <a:xfrm>
            <a:off x="11054715" y="6558915"/>
            <a:ext cx="1113790" cy="29845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2" name="Text Box 31"/>
          <p:cNvSpPr txBox="1"/>
          <p:nvPr/>
        </p:nvSpPr>
        <p:spPr>
          <a:xfrm>
            <a:off x="0" y="6517640"/>
            <a:ext cx="12230735" cy="356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sz="1400">
                <a:solidFill>
                  <a:schemeClr val="tx1">
                    <a:lumMod val="65000"/>
                    <a:lumOff val="35000"/>
                  </a:schemeClr>
                </a:solidFill>
              </a:rPr>
              <a:t>TEAM- Stack_OverFlow</a:t>
            </a:r>
            <a:endParaRPr lang="en-US" sz="14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3632</Words>
  <Application>WPS Presentation</Application>
  <PresentationFormat>On-screen Show (16:9)</PresentationFormat>
  <Paragraphs>255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8" baseType="lpstr">
      <vt:lpstr>Arial</vt:lpstr>
      <vt:lpstr>SimSun</vt:lpstr>
      <vt:lpstr>Wingdings</vt:lpstr>
      <vt:lpstr>Roboto Slab</vt:lpstr>
      <vt:lpstr>Roboto Slab</vt:lpstr>
      <vt:lpstr>Roboto Slab</vt:lpstr>
      <vt:lpstr>Roboto</vt:lpstr>
      <vt:lpstr>Roboto</vt:lpstr>
      <vt:lpstr>Roboto</vt:lpstr>
      <vt:lpstr>Roboto Bold</vt:lpstr>
      <vt:lpstr>Roboto Bold</vt:lpstr>
      <vt:lpstr>Roboto Bold</vt:lpstr>
      <vt:lpstr>Calibri</vt:lpstr>
      <vt:lpstr>Microsoft YaHei</vt:lpstr>
      <vt:lpstr>Arial Unicode MS</vt:lpstr>
      <vt:lpstr>Cambria</vt:lpstr>
      <vt:lpstr>Microsoft Sans Serif</vt:lpstr>
      <vt:lpstr>Times New Roman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Shorya Agrawal</cp:lastModifiedBy>
  <cp:revision>2</cp:revision>
  <dcterms:created xsi:type="dcterms:W3CDTF">2026-09-14T17:50:00Z</dcterms:created>
  <dcterms:modified xsi:type="dcterms:W3CDTF">2026-09-14T18:21:22Z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C0C8048953A64D79B26E0EA2627AD531_12</vt:lpwstr>
  </property>
</Properties>
</file>